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09"/>
    <p:restoredTop sz="94610"/>
  </p:normalViewPr>
  <p:slideViewPr>
    <p:cSldViewPr snapToGrid="0" snapToObjects="1">
      <p:cViewPr varScale="1">
        <p:scale>
          <a:sx n="155" d="100"/>
          <a:sy n="155" d="100"/>
        </p:scale>
        <p:origin x="74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17318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Section: Einstieg &amp; Zielbild
Slide 1/21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Section: Einstieg &amp; Zielbild
Slide 2/21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Section: Einstieg &amp; Zielbild
Slide 3/21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Section: Einstieg &amp; Zielbild
Slide 4/21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Section: Docker Basics
Slide 5/21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Section: Docker Basics
Slide 6/21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Section: Docker Basics
Slide 7/21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Section: Docker Basics
Slide 8/21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Section: Docker Basics
Slide 9/21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Section: Docker Basics
Slide 10/21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Section: Docker Basics
Slide 11/21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Section: Dockerfile verstehen
Slide 12/21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Section: Dockerfile verstehen
Slide 13/21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Section: Dockerfile verstehen
Slide 14/21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Section: Dockerfile verstehen
Slide 15/21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Section: Dockerfile verstehen
Slide 16/21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Section: Dockerfile verstehen
Slide 17/21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Section: Dockerfile verstehen
Slide 18/21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Section: Dockerfile verstehen
Slide 19/21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Section: Dockerfile verstehen
Slide 20/21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Section: Dockerfile verstehen
Slide 21/21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554480"/>
            <a:ext cx="11064240" cy="4480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Workshop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Teil 1: Dockerfile &amp; docker-compose Grundlagen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2011680" cy="32004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822960" y="195681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331720"/>
            <a:ext cx="10789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Ende versteht ihr Dockerfile &amp; Compose so gut, dass ihr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Build/Test-Container bauen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Services starten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Datenbanken anbinden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…und alles reproduzierbar teilen könnt.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4754880"/>
            <a:ext cx="2011680" cy="320040"/>
          </a:xfrm>
          <a:prstGeom prst="round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822960" y="479145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926080" y="4745736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Fokus: Konzepte + Beispiele (Hands-on im nächsten Teil)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0" y="0"/>
            <a:ext cx="12188952" cy="347472"/>
          </a:xfrm>
          <a:prstGeom prst="rect">
            <a:avLst/>
          </a:prstGeom>
          <a:solidFill>
            <a:srgbClr val="0B3B8C"/>
          </a:solidFill>
          <a:ln w="12700">
            <a:solidFill>
              <a:srgbClr val="0B3B8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320040" y="64008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Workshop – Dockerfile &amp; docker-compose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0" y="64008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Einstieg &amp; Zielbild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653796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32004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Workshop – Grundlagen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247120" y="65836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1/21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Zielbild: Was wir im Docker-Workshop bauen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Ende starten wir einen „Mini-Stack“ mit Build/Test + Service + Datenbank.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3474720" cy="100584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1051560" y="199339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test-runner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23317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führt Unit Tests aus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(z.B. mvn test)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43400" y="1828800"/>
            <a:ext cx="3474720" cy="1005840"/>
          </a:xfrm>
          <a:prstGeom prst="roundRect">
            <a:avLst/>
          </a:prstGeom>
          <a:solidFill>
            <a:srgbClr val="0B3B8C"/>
          </a:solidFill>
          <a:ln w="12700">
            <a:solidFill>
              <a:srgbClr val="0B3B8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4572000" y="199339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api-service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0" y="23317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liefert HTTP-Endpunkte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(z.B. /health)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863840" y="1828800"/>
            <a:ext cx="347472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8092440" y="199339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92440" y="23317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Volume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(persistent)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931920" y="2331720"/>
            <a:ext cx="411480" cy="0"/>
          </a:xfrm>
          <a:prstGeom prst="line">
            <a:avLst/>
          </a:prstGeom>
          <a:noFill/>
          <a:ln w="38100">
            <a:solidFill>
              <a:srgbClr val="CBD5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14" name="Shape 12"/>
          <p:cNvSpPr/>
          <p:nvPr/>
        </p:nvSpPr>
        <p:spPr>
          <a:xfrm>
            <a:off x="7452360" y="2331720"/>
            <a:ext cx="411480" cy="0"/>
          </a:xfrm>
          <a:prstGeom prst="line">
            <a:avLst/>
          </a:prstGeom>
          <a:noFill/>
          <a:ln w="38100">
            <a:solidFill>
              <a:srgbClr val="CBD5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15" name="Shape 13"/>
          <p:cNvSpPr/>
          <p:nvPr/>
        </p:nvSpPr>
        <p:spPr>
          <a:xfrm>
            <a:off x="731520" y="3246120"/>
            <a:ext cx="10607040" cy="1554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1005840" y="34290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docker-compose.yml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584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Startet mehrere Container als 1 Stack (Netzwerk, Ports, Volumes, ENV).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0" y="0"/>
            <a:ext cx="12188952" cy="347472"/>
          </a:xfrm>
          <a:prstGeom prst="rect">
            <a:avLst/>
          </a:prstGeom>
          <a:solidFill>
            <a:srgbClr val="0B3B8C"/>
          </a:solidFill>
          <a:ln w="12700">
            <a:solidFill>
              <a:srgbClr val="0B3B8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320040" y="64008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Workshop – Dockerfile &amp; docker-compose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0" y="64008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Einstieg &amp; Zielbild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653796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32004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Workshop – Grundlagen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247120" y="65836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2/21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Lernziele für Teil 1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280160"/>
            <a:ext cx="10972800" cy="1993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vs Container erklären (und typische Fehler vermeiden)</a:t>
            </a:r>
            <a:endParaRPr lang="en-US" sz="20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lesen &amp; schreiben (Layers, Cache, CMD/ENTRYPOINT)</a:t>
            </a:r>
            <a:endParaRPr lang="en-US" sz="20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docker-compose.yml verstehen (services, ports, volumes, env)</a:t>
            </a:r>
            <a:endParaRPr lang="en-US" sz="20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Know-how für den Hands-on Teil: Build/Test-Container + Service + DB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22960" y="4480560"/>
            <a:ext cx="10972800" cy="1737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1051560" y="4681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498348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Ihr könnt eine Aufgaben-Umgebung als Container-Stack definieren,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auf jedem Rechner identisch läuft.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0"/>
            <a:ext cx="12188952" cy="347472"/>
          </a:xfrm>
          <a:prstGeom prst="rect">
            <a:avLst/>
          </a:prstGeom>
          <a:solidFill>
            <a:srgbClr val="0B3B8C"/>
          </a:solidFill>
          <a:ln w="12700">
            <a:solidFill>
              <a:srgbClr val="0B3B8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320040" y="64008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Workshop – Dockerfile &amp; docker-compose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0" y="64008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Einstieg &amp; Zielbild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653796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32004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Workshop – Grundlagen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247120" y="65836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3/21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(heute)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972800" cy="4754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1097280" y="1737360"/>
            <a:ext cx="104241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1234440" y="1965960"/>
            <a:ext cx="502920" cy="50292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1234440" y="201168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874520" y="19202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Einstieg &amp; Zielbild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874520" y="2267712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bauen wir später? Welche Begriffe brauchst du?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97280" y="2880360"/>
            <a:ext cx="104241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1234440" y="3108960"/>
            <a:ext cx="502920" cy="50292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1234440" y="315468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874520" y="30632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Basics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874520" y="3410712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Wichtige CLI-Befehle, Ports, Volumes, Netzwerk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97280" y="4023360"/>
            <a:ext cx="104241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Shape 13"/>
          <p:cNvSpPr/>
          <p:nvPr/>
        </p:nvSpPr>
        <p:spPr>
          <a:xfrm>
            <a:off x="1234440" y="4251960"/>
            <a:ext cx="502920" cy="50292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1234440" y="429768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874520" y="42062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verstehen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874520" y="4553712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FROM/COPY/RUN, Layer &amp; Cache, CMD/ENTRYPOINT, Multi-stage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097280" y="5166360"/>
            <a:ext cx="104241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Shape 18"/>
          <p:cNvSpPr/>
          <p:nvPr/>
        </p:nvSpPr>
        <p:spPr>
          <a:xfrm>
            <a:off x="1234440" y="5394960"/>
            <a:ext cx="502920" cy="502920"/>
          </a:xfrm>
          <a:prstGeom prst="round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1234440" y="544068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874520" y="53492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Nächster Teil (Hands-on)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874520" y="5696712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Build/Test-Container + Service + DB mit Compose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0" y="0"/>
            <a:ext cx="12188952" cy="347472"/>
          </a:xfrm>
          <a:prstGeom prst="rect">
            <a:avLst/>
          </a:prstGeom>
          <a:solidFill>
            <a:srgbClr val="0B3B8C"/>
          </a:solidFill>
          <a:ln w="12700">
            <a:solidFill>
              <a:srgbClr val="0B3B8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320040" y="64008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Workshop – Dockerfile &amp; docker-compose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29600" y="64008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Einstieg &amp; Zielbild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0040" y="653796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8" name="Text 26"/>
          <p:cNvSpPr/>
          <p:nvPr/>
        </p:nvSpPr>
        <p:spPr>
          <a:xfrm>
            <a:off x="32004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Workshop – Grundlagen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247120" y="65836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4/21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vs Container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Image ist der Bauplan. Ein Container ist die laufende Instanz.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1645920"/>
            <a:ext cx="539496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1097280" y="18745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2331720"/>
            <a:ext cx="4846320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wird mit &lt;b&gt;docker build&lt;/b&gt; erstellt</a:t>
            </a:r>
            <a:endParaRPr lang="en-US" sz="16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 &lt;b&gt;read-only&lt;/b&gt; (Layer)</a:t>
            </a:r>
            <a:endParaRPr lang="en-US" sz="16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kann versioniert werden (Tags)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97280" y="4160520"/>
            <a:ext cx="4846320" cy="16002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1325880" y="4325112"/>
            <a:ext cx="4389120" cy="1271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build -t myapp:1.0 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images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55080" y="1645920"/>
            <a:ext cx="54406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6629400" y="18745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629400" y="2331720"/>
            <a:ext cx="4846320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wird mit &lt;b&gt;docker run&lt;/b&gt; gestartet</a:t>
            </a:r>
            <a:endParaRPr lang="en-US" sz="16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 Laufzeit-Zustand (Logs, Prozesse)</a:t>
            </a:r>
            <a:endParaRPr lang="en-US" sz="16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kann Ports/Volumes/ENV bekommen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629400" y="4160520"/>
            <a:ext cx="4846320" cy="16002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6858000" y="4325112"/>
            <a:ext cx="4389120" cy="1271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--rm myapp:1.0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logs &lt;id&gt;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0" y="0"/>
            <a:ext cx="12188952" cy="347472"/>
          </a:xfrm>
          <a:prstGeom prst="rect">
            <a:avLst/>
          </a:prstGeom>
          <a:solidFill>
            <a:srgbClr val="0B3B8C"/>
          </a:solidFill>
          <a:ln w="12700">
            <a:solidFill>
              <a:srgbClr val="0B3B8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320040" y="64008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Workshop – Dockerfile &amp; docker-compose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Basics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653796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32004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Workshop – Grundlagen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247120" y="65836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5/21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CLI – die wichtigsten Befehle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Damit kommst du durch 80% aller Aufgaben (Starten, Debuggen, Aufräumen).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1554480"/>
            <a:ext cx="539496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1097280" y="17830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&amp; Debug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97280" y="2148840"/>
            <a:ext cx="4846320" cy="3749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1325880" y="2313432"/>
            <a:ext cx="4389120" cy="3419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pull &lt;image&gt;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build -t name:tag 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--rm name:tag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ps / docker ps -a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logs -f &lt;container&gt;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exec -it &lt;container&gt; sh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55080" y="1554480"/>
            <a:ext cx="54406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6629400" y="17830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&amp; Cleanup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629400" y="2148840"/>
            <a:ext cx="4846320" cy="3749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6858000" y="2313432"/>
            <a:ext cx="4389120" cy="3419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stop &lt;container&gt;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rm &lt;container&gt;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rmi &lt;image&gt;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system df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system prune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inspect &lt;container&gt;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0" y="0"/>
            <a:ext cx="12188952" cy="347472"/>
          </a:xfrm>
          <a:prstGeom prst="rect">
            <a:avLst/>
          </a:prstGeom>
          <a:solidFill>
            <a:srgbClr val="0B3B8C"/>
          </a:solidFill>
          <a:ln w="12700">
            <a:solidFill>
              <a:srgbClr val="0B3B8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320040" y="64008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Workshop – Dockerfile &amp; docker-compose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0" y="64008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Basics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653796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32004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Workshop – Grundlagen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247120" y="65836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6/21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Image-Lifecycle: pull → build → run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Denke in einem einfachen Fluss: Image holen/bauen, dann Container starten.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3383280" cy="109728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1051560" y="217627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254203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fertiges Image ziehen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(Registry)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43400" y="2011680"/>
            <a:ext cx="3383280" cy="1097280"/>
          </a:xfrm>
          <a:prstGeom prst="roundRect">
            <a:avLst/>
          </a:prstGeom>
          <a:solidFill>
            <a:srgbClr val="0B3B8C"/>
          </a:solidFill>
          <a:ln w="12700">
            <a:solidFill>
              <a:srgbClr val="0B3B8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4572000" y="217627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0" y="254203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eigenes Image bauen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(Dockerfile)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863840" y="2011680"/>
            <a:ext cx="3383280" cy="109728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8092440" y="217627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092440" y="254203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starten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(Ports/Volumes)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977640" y="2560320"/>
            <a:ext cx="320040" cy="0"/>
          </a:xfrm>
          <a:prstGeom prst="line">
            <a:avLst/>
          </a:prstGeom>
          <a:noFill/>
          <a:ln w="3810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14" name="Shape 12"/>
          <p:cNvSpPr/>
          <p:nvPr/>
        </p:nvSpPr>
        <p:spPr>
          <a:xfrm>
            <a:off x="7498080" y="2560320"/>
            <a:ext cx="320040" cy="0"/>
          </a:xfrm>
          <a:prstGeom prst="line">
            <a:avLst/>
          </a:prstGeom>
          <a:noFill/>
          <a:ln w="3810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15" name="Shape 13"/>
          <p:cNvSpPr/>
          <p:nvPr/>
        </p:nvSpPr>
        <p:spPr>
          <a:xfrm>
            <a:off x="822960" y="3474720"/>
            <a:ext cx="10652760" cy="2103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1051560" y="3639312"/>
            <a:ext cx="10195560" cy="1773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pull python:3.12-slim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build -t task-runner:dev 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--rm -v "$PWD":/work task-runner:dev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0" y="0"/>
            <a:ext cx="12188952" cy="347472"/>
          </a:xfrm>
          <a:prstGeom prst="rect">
            <a:avLst/>
          </a:prstGeom>
          <a:solidFill>
            <a:srgbClr val="0B3B8C"/>
          </a:solidFill>
          <a:ln w="12700">
            <a:solidFill>
              <a:srgbClr val="0B3B8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320040" y="64008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Workshop – Dockerfile &amp; docker-compose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Basics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653796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32004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Workshop – Grundlagen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247120" y="65836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7/21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Ports: Wie dein Service erreichbar wird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Container hat interne Ports. Mit -p mapst du sie auf deinen Rechner.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303520" cy="3685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1097280" y="20574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(dein Rechner)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97280" y="2606040"/>
            <a:ext cx="4754880" cy="9144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1234440" y="2852928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localhost:8080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37947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/ curl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55080" y="1828800"/>
            <a:ext cx="5440680" cy="368503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6629400" y="20574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629400" y="2606040"/>
            <a:ext cx="48920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6766560" y="2852928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 80 (intern)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629400" y="37947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läuft im Container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80760" y="3063240"/>
            <a:ext cx="274320" cy="0"/>
          </a:xfrm>
          <a:prstGeom prst="line">
            <a:avLst/>
          </a:prstGeom>
          <a:noFill/>
          <a:ln w="76200">
            <a:solidFill>
              <a:srgbClr val="2563EB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4892040" y="3429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-p 8080:80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2960" y="5620259"/>
            <a:ext cx="10972800" cy="868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1051560" y="5784851"/>
            <a:ext cx="10515600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-p 8080:80 nginx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dann: http://localhost:8080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0" y="0"/>
            <a:ext cx="12188952" cy="347472"/>
          </a:xfrm>
          <a:prstGeom prst="rect">
            <a:avLst/>
          </a:prstGeom>
          <a:solidFill>
            <a:srgbClr val="0B3B8C"/>
          </a:solidFill>
          <a:ln w="12700">
            <a:solidFill>
              <a:srgbClr val="0B3B8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320040" y="64008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Workshop – Dockerfile &amp; docker-compose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0" y="64008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Basics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653796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32004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Workshop – Grundlagen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247120" y="65836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8/21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Volumes: Code rein, Daten raus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Zwei wichtige Varianten: Bind Mount (dev) und Named Volume (persistente DB-Daten).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53949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1097280" y="19202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 Mount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233172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Gut für Entwicklung: lokaler Code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liegt im Container unter /work.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97280" y="3063240"/>
            <a:ext cx="4846320" cy="2697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1325880" y="3227832"/>
            <a:ext cx="4389120" cy="2368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--rm -v "$PWD":/work \n  -w /work python:3.12-slim \n  python -m pytest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55080" y="1691640"/>
            <a:ext cx="5440680" cy="4480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6629400" y="19202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Volume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29400" y="233172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Gut für Datenbanken: bleibt erhalten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auch wenn Container neu startet.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629400" y="3063240"/>
            <a:ext cx="4846320" cy="2697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6858000" y="3227832"/>
            <a:ext cx="4389120" cy="2368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volume create pgdata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-d --name db \n  -v pgdata:/var/lib/postgresql/data \n  postgres:16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0" y="0"/>
            <a:ext cx="12188952" cy="347472"/>
          </a:xfrm>
          <a:prstGeom prst="rect">
            <a:avLst/>
          </a:prstGeom>
          <a:solidFill>
            <a:srgbClr val="0B3B8C"/>
          </a:solidFill>
          <a:ln w="12700">
            <a:solidFill>
              <a:srgbClr val="0B3B8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320040" y="64008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Workshop – Dockerfile &amp; docker-compose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Basics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653796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32004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Workshop – Grundlagen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247120" y="65836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9/21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Netzwerk: Container sprechen über Namen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Compose gibt es standardmäßig ein gemeinsames Netzwerk. Services finden sich per DNS-Namen.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14400" y="1737360"/>
            <a:ext cx="10881360" cy="4480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1371600" y="2286000"/>
            <a:ext cx="4297680" cy="118872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1600200" y="248716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api-service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00200" y="285292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DB_HOST=db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0" y="2286000"/>
            <a:ext cx="4023360" cy="1188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7543800" y="248716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543800" y="285292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PostgreSQL:5432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760720" y="2880360"/>
            <a:ext cx="1463040" cy="0"/>
          </a:xfrm>
          <a:prstGeom prst="line">
            <a:avLst/>
          </a:prstGeom>
          <a:noFill/>
          <a:ln w="5080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5120640" y="31546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jdbc://db:5432/…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88720" y="416052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Wichtig: In Compose nutzt du &lt;b&gt;db&lt;/b&gt; als Hostname – nicht localhost.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0" y="0"/>
            <a:ext cx="12188952" cy="347472"/>
          </a:xfrm>
          <a:prstGeom prst="rect">
            <a:avLst/>
          </a:prstGeom>
          <a:solidFill>
            <a:srgbClr val="0B3B8C"/>
          </a:solidFill>
          <a:ln w="12700">
            <a:solidFill>
              <a:srgbClr val="0B3B8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320040" y="64008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Workshop – Dockerfile &amp; docker-compose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Basics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653796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32004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Workshop – Grundlagen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247120" y="65836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10/21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(kurz &amp; praktisch)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1097280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sind &lt;b&gt;wegwerfbar&lt;/b&gt;: State gehört in Volumes/DB, nicht ins Image.</a:t>
            </a:r>
            <a:endParaRPr lang="en-US" sz="20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nach &lt;b&gt;stdout/stderr&lt;/b&gt; (damit docker logs funktioniert).</a:t>
            </a:r>
            <a:endParaRPr lang="en-US" sz="20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Secrets ins Image committen (ENV/Secrets/CI verwenden).</a:t>
            </a:r>
            <a:endParaRPr lang="en-US" sz="20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klein halten (slim/alpine, Multi-stage, .dockerignore).</a:t>
            </a:r>
            <a:endParaRPr lang="en-US" sz="20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Prozess pro Container (für klare Verantwortlichkeit).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22960" y="5486400"/>
            <a:ext cx="10972800" cy="868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1097280" y="5623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Merksatz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0" y="5596128"/>
            <a:ext cx="8869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„Container sind Infrastruktur – Code &amp; Daten bleiben kontrolliert außerhalb.“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0"/>
            <a:ext cx="12188952" cy="347472"/>
          </a:xfrm>
          <a:prstGeom prst="rect">
            <a:avLst/>
          </a:prstGeom>
          <a:solidFill>
            <a:srgbClr val="0B3B8C"/>
          </a:solidFill>
          <a:ln w="12700">
            <a:solidFill>
              <a:srgbClr val="0B3B8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320040" y="64008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Workshop – Dockerfile &amp; docker-compose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0" y="64008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Basics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653796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32004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Workshop – Grundlagen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247120" y="65836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11/21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Dockerfile: das Rezept für dein Image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Dockerfile beschreibt Schritt für Schritt, wie ein Image gebaut wird.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10972800" cy="4480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1097280" y="18745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Build-Kontext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22402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Ordner, den du an docker build übergibst (z.B. .).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kann nur Dateien aus diesem Kontext COPYen.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97280" y="2971800"/>
            <a:ext cx="10332720" cy="10972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1325880" y="3136392"/>
            <a:ext cx="987552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build -t myapp:dev 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das "." ist der Build-Kontext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425196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Wichtig: Nutze .dockerignore, damit der Kontext klein bleibt.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0" y="0"/>
            <a:ext cx="12188952" cy="347472"/>
          </a:xfrm>
          <a:prstGeom prst="rect">
            <a:avLst/>
          </a:prstGeom>
          <a:solidFill>
            <a:srgbClr val="0B3B8C"/>
          </a:solidFill>
          <a:ln w="12700">
            <a:solidFill>
              <a:srgbClr val="0B3B8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320040" y="64008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Workshop – Dockerfile &amp; docker-compose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verstehen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653796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32004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Workshop – Grundlagen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247120" y="65836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12/21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&amp; Cache: warum Reihenfolge wichtig ist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280160"/>
            <a:ext cx="10972800" cy="1609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 Dockerfile-Anweisung erzeugt (meist) einen &lt;b&gt;Layer&lt;/b&gt;.</a:t>
            </a:r>
            <a:endParaRPr lang="en-US" sz="20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cached Layers: Wenn sich eine Zeile + ihre Inputs nicht ändern, wird sie wiederverwendet.</a:t>
            </a:r>
            <a:endParaRPr lang="en-US" sz="20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Deshalb: erst selten ändernde Sachen (Dependencies), dann häufig ändernden Code.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22960" y="3566160"/>
            <a:ext cx="10972800" cy="2560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1097280" y="37947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 (Node/Java ähnlich):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4160520"/>
            <a:ext cx="5212080" cy="17830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1325880" y="4325112"/>
            <a:ext cx="4754880" cy="1453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package*.json ./   # selten geändert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npm ci              # cached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. .                # häufig geändert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npm test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83680" y="425196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Wenn du zuerst "COPY . ." machst, invalidierst du den Cache ständig.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0"/>
            <a:ext cx="12188952" cy="347472"/>
          </a:xfrm>
          <a:prstGeom prst="rect">
            <a:avLst/>
          </a:prstGeom>
          <a:solidFill>
            <a:srgbClr val="0B3B8C"/>
          </a:solidFill>
          <a:ln w="12700">
            <a:solidFill>
              <a:srgbClr val="0B3B8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320040" y="64008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Workshop – Dockerfile &amp; docker-compose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0" y="64008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verstehen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653796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32004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Workshop – Grundlagen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247120" y="65836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13/21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Minimal-Dockerfile (annotiert)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Beispiel für einen kleinen Service (Prinzip gilt für jede Sprache).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10972800" cy="36576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1051560" y="1764792"/>
            <a:ext cx="10515600" cy="3328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python:3.12-slim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/app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requirements.txt 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pip install -r requirements.txt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. 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EXPOSE 8000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["python", "-m", "uvicorn", "app:api", "--host", "0.0.0.0", "--port", "8000"]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5440680"/>
            <a:ext cx="10972800" cy="960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1097280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Merken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0" y="5541264"/>
            <a:ext cx="8869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Image enthält Code + Runtime. Ports/ENV/Volumes kommen meist beim Run/Compose dazu.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0"/>
            <a:ext cx="12188952" cy="347472"/>
          </a:xfrm>
          <a:prstGeom prst="rect">
            <a:avLst/>
          </a:prstGeom>
          <a:solidFill>
            <a:srgbClr val="0B3B8C"/>
          </a:solidFill>
          <a:ln w="12700">
            <a:solidFill>
              <a:srgbClr val="0B3B8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320040" y="64008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Workshop – Dockerfile &amp; docker-compose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0" y="64008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verstehen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653796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32004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Workshop – Grundlagen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247120" y="65836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14/21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 Base Image wählen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10972800" cy="1636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Wähle Images passend zur Aufgabe: &lt;b&gt;runtime&lt;/b&gt; (z.B. python, node, eclipse-temurin) oder &lt;b&gt;build&lt;/b&gt; (maven, gradle).</a:t>
            </a:r>
            <a:endParaRPr lang="en-US" sz="20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Bevorzuge &lt;b&gt;slim&lt;/b&gt; Varianten (kleiner, schneller).</a:t>
            </a:r>
            <a:endParaRPr lang="en-US" sz="20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Pinne Versionen: z.B. &lt;b&gt;python:3.12-slim&lt;/b&gt; statt latest.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22960" y="4160520"/>
            <a:ext cx="10972800" cy="1920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1051560" y="4325112"/>
            <a:ext cx="10515600" cy="1591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Beispiele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python:3.12-slim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node:20-alpine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eclipse-temurin:21-jre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maven:3.9-eclipse-temurin-21  # build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2188952" cy="347472"/>
          </a:xfrm>
          <a:prstGeom prst="rect">
            <a:avLst/>
          </a:prstGeom>
          <a:solidFill>
            <a:srgbClr val="0B3B8C"/>
          </a:solidFill>
          <a:ln w="12700">
            <a:solidFill>
              <a:srgbClr val="0B3B8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320040" y="64008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Workshop – Dockerfile &amp; docker-compose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0" y="64008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verstehen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653796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32004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Workshop – Grundlagen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247120" y="65836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15/21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WORKDIR, COPY, RUN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„Bauen“ passiert bei docker build – RUN läuft im Build-Prozess.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1097280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1097280" y="1920240"/>
            <a:ext cx="5212080" cy="27432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1325880" y="2084832"/>
            <a:ext cx="4754880" cy="2414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/app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pom.xml 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mvn -q -DskipTests package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src ./src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mvn -q test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0" y="1874520"/>
            <a:ext cx="5120640" cy="1609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&lt;b&gt;WORKDIR&lt;/b&gt; setzt das Arbeitsverzeichnis für nachfolgende Befehle.</a:t>
            </a:r>
            <a:endParaRPr lang="en-US" sz="16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&lt;b&gt;COPY&lt;/b&gt; holt Dateien aus dem Build-Kontext in das Image.</a:t>
            </a:r>
            <a:endParaRPr lang="en-US" sz="16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&lt;b&gt;RUN&lt;/b&gt; führt Kommandos beim Build aus (z.B. Dependencies, Compile, Tests).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0"/>
            <a:ext cx="12188952" cy="347472"/>
          </a:xfrm>
          <a:prstGeom prst="rect">
            <a:avLst/>
          </a:prstGeom>
          <a:solidFill>
            <a:srgbClr val="0B3B8C"/>
          </a:solidFill>
          <a:ln w="12700">
            <a:solidFill>
              <a:srgbClr val="0B3B8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320040" y="64008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Workshop – Dockerfile &amp; docker-compose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verstehen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653796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32004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Workshop – Grundlagen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247120" y="65836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16/21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 vs ENTRYPOINT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Beide definieren, was beim Starten des Containers ausgeführt wird.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5394960" cy="4480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1097280" y="18288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2240280"/>
            <a:ext cx="4846320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Default-Command (kann überschrieben werden)</a:t>
            </a:r>
            <a:endParaRPr lang="en-US" sz="16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gut für „Standardstart“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97280" y="3154680"/>
            <a:ext cx="4846320" cy="2697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1325880" y="3319272"/>
            <a:ext cx="4389120" cy="2368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["node", "server.js"]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override: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docker run image node other.js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55080" y="1600200"/>
            <a:ext cx="54406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6629400" y="18288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ENTRYPOINT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629400" y="2240280"/>
            <a:ext cx="4846320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Fixer „Hauptprozess“</a:t>
            </a:r>
            <a:endParaRPr lang="en-US" sz="16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zusätzliche args kommen über CMD/Run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629400" y="3154680"/>
            <a:ext cx="4846320" cy="2697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6858000" y="3319272"/>
            <a:ext cx="4389120" cy="2368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ENTRYPOINT ["python", "-m", "pytest"]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["-q"]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docker run image -k test_name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0" y="0"/>
            <a:ext cx="12188952" cy="347472"/>
          </a:xfrm>
          <a:prstGeom prst="rect">
            <a:avLst/>
          </a:prstGeom>
          <a:solidFill>
            <a:srgbClr val="0B3B8C"/>
          </a:solidFill>
          <a:ln w="12700">
            <a:solidFill>
              <a:srgbClr val="0B3B8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320040" y="64008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Workshop – Dockerfile &amp; docker-compose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verstehen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653796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32004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Workshop – Grundlagen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247120" y="65836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17/21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.dockerignore: Build-Kontext klein halten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10972800" cy="1609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Build-Kontext wird zu Docker übertragen – große Ordner machen Builds langsam.</a:t>
            </a:r>
            <a:endParaRPr lang="en-US" sz="20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Ignoriere Build-Artefakte, Dependencies und Secrets.</a:t>
            </a:r>
            <a:endParaRPr lang="en-US" sz="20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verbessert Cache &amp; Security.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22960" y="3566160"/>
            <a:ext cx="10972800" cy="25146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1051560" y="3730752"/>
            <a:ext cx="10515600" cy="2185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.dockerignore (Beispiel)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node_modules/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target/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build/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.git/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.idea/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*.log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.env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2188952" cy="347472"/>
          </a:xfrm>
          <a:prstGeom prst="rect">
            <a:avLst/>
          </a:prstGeom>
          <a:solidFill>
            <a:srgbClr val="0B3B8C"/>
          </a:solidFill>
          <a:ln w="12700">
            <a:solidFill>
              <a:srgbClr val="0B3B8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320040" y="64008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Workshop – Dockerfile &amp; docker-compose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0" y="64008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verstehen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653796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32004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Workshop – Grundlagen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247120" y="65836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18/21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Builds: build groß, runtime klein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baust Artefakte in einem Builder-Image und kopierst nur das Ergebnis ins Runtime-Image.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10972800" cy="44348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1051560" y="1764792"/>
            <a:ext cx="10515600" cy="4105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Stage 1: build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maven:3.9-eclipse-temurin-21 AS build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/src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pom.xml 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src ./src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mvn -q -DskipTests package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Stage 2: runtime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eclipse-temurin:21-jre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/app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--from=build /src/target/app.jar app.jar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["java", "-jar", "app.jar"]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2188952" cy="347472"/>
          </a:xfrm>
          <a:prstGeom prst="rect">
            <a:avLst/>
          </a:prstGeom>
          <a:solidFill>
            <a:srgbClr val="0B3B8C"/>
          </a:solidFill>
          <a:ln w="12700">
            <a:solidFill>
              <a:srgbClr val="0B3B8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320040" y="64008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Workshop – Dockerfile &amp; docker-compose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0" y="64008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verstehen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653796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32004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Workshop – Grundlagen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247120" y="65836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19/21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 vs ENV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10972800" cy="1609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&lt;b&gt;ARG&lt;/b&gt;: nur beim Build verfügbar (z.B. Versionen, Build-Flags).</a:t>
            </a:r>
            <a:endParaRPr lang="en-US" sz="20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&lt;b&gt;ENV&lt;/b&gt;: zur Laufzeit im Container verfügbar (z.B. PORT, DB_HOST).</a:t>
            </a:r>
            <a:endParaRPr lang="en-US" sz="20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Konfiguration gehört meistens in ENV (und wird in Compose gesetzt).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22960" y="3611880"/>
            <a:ext cx="10972800" cy="2377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1051560" y="3776472"/>
            <a:ext cx="10515600" cy="2048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 APP_VERSION=dev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 PORT=8080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Build: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build --build-arg APP_VERSION=1.2.3 -t myapp:1.2.3 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2188952" cy="347472"/>
          </a:xfrm>
          <a:prstGeom prst="rect">
            <a:avLst/>
          </a:prstGeom>
          <a:solidFill>
            <a:srgbClr val="0B3B8C"/>
          </a:solidFill>
          <a:ln w="12700">
            <a:solidFill>
              <a:srgbClr val="0B3B8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320040" y="64008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Workshop – Dockerfile &amp; docker-compose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0" y="64008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verstehen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653796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32004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Workshop – Grundlagen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247120" y="65836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20/21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Checkliste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10972800" cy="2761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Pinned Base Image (keine unkontrollierten latest Builds)</a:t>
            </a:r>
            <a:endParaRPr lang="en-US" sz="20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Sinnvolle Reihenfolge für Cache (Dependencies vor Code)</a:t>
            </a:r>
            <a:endParaRPr lang="en-US" sz="20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.dockerignore vorhanden</a:t>
            </a:r>
            <a:endParaRPr lang="en-US" sz="20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CMD/ENTRYPOINT klar (ein Hauptprozess)</a:t>
            </a:r>
            <a:endParaRPr lang="en-US" sz="20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für kompakte Runtime (wenn Build-Artefakte)</a:t>
            </a:r>
            <a:endParaRPr lang="en-US" sz="20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Konfiguration via ENV/Compose, keine Secrets im Image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22960" y="5532120"/>
            <a:ext cx="10972800" cy="868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1097280" y="565099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Nächstes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017520" y="5632704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Hands-on Teil schreiben wir dann docker-compose.yml und starten Service + DB + Test Runner.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0"/>
            <a:ext cx="12188952" cy="347472"/>
          </a:xfrm>
          <a:prstGeom prst="rect">
            <a:avLst/>
          </a:prstGeom>
          <a:solidFill>
            <a:srgbClr val="0B3B8C"/>
          </a:solidFill>
          <a:ln w="12700">
            <a:solidFill>
              <a:srgbClr val="0B3B8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320040" y="64008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Workshop – Dockerfile &amp; docker-compose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0" y="64008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verstehen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653796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32004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Workshop – Grundlagen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247120" y="65836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21/21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2114</Words>
  <Application>Microsoft Macintosh PowerPoint</Application>
  <PresentationFormat>Breitbild</PresentationFormat>
  <Paragraphs>359</Paragraphs>
  <Slides>21</Slides>
  <Notes>21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21</vt:i4>
      </vt:variant>
    </vt:vector>
  </HeadingPairs>
  <TitlesOfParts>
    <vt:vector size="25" baseType="lpstr">
      <vt:lpstr>Arial</vt:lpstr>
      <vt:lpstr>Calibri</vt:lpstr>
      <vt:lpstr>Consolas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Torsten Steinmüller</cp:lastModifiedBy>
  <cp:revision>2</cp:revision>
  <dcterms:created xsi:type="dcterms:W3CDTF">2026-02-02T15:41:46Z</dcterms:created>
  <dcterms:modified xsi:type="dcterms:W3CDTF">2026-02-02T16:19:27Z</dcterms:modified>
</cp:coreProperties>
</file>